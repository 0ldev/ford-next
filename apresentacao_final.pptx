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791F"/>
                </a:solidFill>
                <a:latin typeface="Consolas"/>
              </a:rPr>
              <a:t>DESAFIO 02 · FIAP × FORD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A2027"/>
                </a:solidFill>
                <a:latin typeface="Arial Black"/>
              </a:rPr>
              <a:t>VIN Share</a:t>
            </a:r>
          </a:p>
          <a:p>
            <a:pPr algn="l">
              <a:lnSpc>
                <a:spcPct val="100000"/>
              </a:lnSpc>
            </a:pPr>
            <a:r>
              <a:rPr sz="5400" b="1">
                <a:solidFill>
                  <a:srgbClr val="1A2027"/>
                </a:solidFill>
                <a:latin typeface="Arial Black"/>
              </a:rPr>
              <a:t>Intelligence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572"/>
                </a:solidFill>
                <a:latin typeface="Arial"/>
              </a:rPr>
              <a:t>Três pilares, um fluxo só: do dado bruto até a ação de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3A0"/>
                </a:solidFill>
                <a:latin typeface="Consolas"/>
              </a:rPr>
              <a:t>VISÃO &amp; INTEGRAÇÃO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2027"/>
                </a:solidFill>
                <a:latin typeface="Arial"/>
              </a:rPr>
              <a:t>0ldev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53949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3A0"/>
                </a:solidFill>
                <a:latin typeface="Consolas"/>
              </a:rPr>
              <a:t>DADOS &amp;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6692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2027"/>
                </a:solidFill>
                <a:latin typeface="Arial"/>
              </a:rPr>
              <a:t>Bruno Biletsky · Guilherme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3949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A93A0"/>
                </a:solidFill>
                <a:latin typeface="Consolas"/>
              </a:rPr>
              <a:t>FRONTEND &amp;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56692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2027"/>
                </a:solidFill>
                <a:latin typeface="Arial"/>
              </a:rPr>
              <a:t>Paulo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01 ·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A2027"/>
                </a:solidFill>
                <a:latin typeface="Arial Black"/>
              </a:rPr>
              <a:t>Quando um carro Ford some da rede oficial,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1A2027"/>
                </a:solidFill>
                <a:latin typeface="Arial Black"/>
              </a:rPr>
              <a:t>ninguém sabe — até ser tarde demais.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5B6572"/>
                </a:solidFill>
                <a:latin typeface="Arial"/>
              </a:rPr>
              <a:t>A concessionária não recebe alerta. O cliente não recebe lembrete personalizado. A Ford perde receita recorrente de pós-venda sem entender o motivo.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02 · A VIRADA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A2027"/>
                </a:solidFill>
                <a:latin typeface="Arial Black"/>
              </a:rPr>
              <a:t>Não simulamos 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9791F"/>
                </a:solidFill>
                <a:latin typeface="Arial Black"/>
              </a:rPr>
              <a:t>602.788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572"/>
                </a:solidFill>
                <a:latin typeface="Arial"/>
              </a:rPr>
              <a:t>ordens de serviço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4884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9791F"/>
                </a:solidFill>
                <a:latin typeface="Arial Black"/>
              </a:rPr>
              <a:t>175.554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5468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572"/>
                </a:solidFill>
                <a:latin typeface="Arial"/>
              </a:rPr>
              <a:t>veículos únicos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4884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33172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9791F"/>
                </a:solidFill>
                <a:latin typeface="Arial Black"/>
              </a:rPr>
              <a:t>435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15468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572"/>
                </a:solidFill>
                <a:latin typeface="Arial"/>
              </a:rPr>
              <a:t>concessionárias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14884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9791F"/>
                </a:solidFill>
                <a:latin typeface="Arial Black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5468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572"/>
                </a:solidFill>
                <a:latin typeface="Arial"/>
              </a:rPr>
              <a:t>modelos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4884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33172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9791F"/>
                </a:solidFill>
                <a:latin typeface="Arial Black"/>
              </a:rPr>
              <a:t>2020–26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15468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572"/>
                </a:solidFill>
                <a:latin typeface="Arial"/>
              </a:rPr>
              <a:t>período coberto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B6572"/>
                </a:solidFill>
                <a:latin typeface="Arial"/>
              </a:rPr>
              <a:t>Cada número que vocês vão ver nos próximos minutos vem direto desse dataset.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03 · 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2027"/>
                </a:solidFill>
                <a:latin typeface="Arial Black"/>
              </a:rPr>
              <a:t>Três pilares, conectados — não três protótipos isolados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50800" cy="2926080"/>
          </a:xfrm>
          <a:prstGeom prst="rect">
            <a:avLst/>
          </a:prstGeom>
          <a:solidFill>
            <a:srgbClr val="0E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90"/>
                </a:solidFill>
                <a:latin typeface="Consolas"/>
              </a:rPr>
              <a:t>PILAR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2027"/>
                </a:solidFill>
                <a:latin typeface="Arial Black"/>
              </a:rPr>
              <a:t>Análise &amp; Visualização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Dashboard com VIN Share por concessionária, modelo, idade do veículo e tipo de serviço, mais um painel de anomalias.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560320"/>
            <a:ext cx="50800" cy="2926080"/>
          </a:xfrm>
          <a:prstGeom prst="rect">
            <a:avLst/>
          </a:prstGeom>
          <a:solidFill>
            <a:srgbClr val="2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8F5B"/>
                </a:solidFill>
                <a:latin typeface="Consolas"/>
              </a:rPr>
              <a:t>PILAR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2027"/>
                </a:solidFill>
                <a:latin typeface="Arial Black"/>
              </a:rPr>
              <a:t>Modelagem Preditiva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Modelo treinado no histórico real de serviços — score de risco de evasão por veículo, lista de leads priorizada.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56032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560320"/>
            <a:ext cx="50800" cy="2926080"/>
          </a:xfrm>
          <a:prstGeom prst="rect">
            <a:avLst/>
          </a:prstGeom>
          <a:solidFill>
            <a:srgbClr val="685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857C7"/>
                </a:solidFill>
                <a:latin typeface="Consolas"/>
              </a:rPr>
              <a:t>PILAR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2027"/>
                </a:solidFill>
                <a:latin typeface="Arial Black"/>
              </a:rPr>
              <a:t>Jornada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Motor de regras que transforma o score em ação concreta — lembrete, oferta ou contato ativo — com mensagem já pronta.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DEMO · PILAR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027"/>
                </a:solidFill>
                <a:latin typeface="Arial Black"/>
              </a:rPr>
              <a:t>Não é mockup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035040" cy="37719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top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03504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214884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4 dimensões de filtro,</a:t>
            </a: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combinadas ao vivo.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4612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Concessionária, modelo, idade do veículo e tipo de serviço — o mesmo recorte que a Ford pediu, funcionando junto, não isolado.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434840"/>
            <a:ext cx="4419295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4434840"/>
            <a:ext cx="50800" cy="118872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72000"/>
            <a:ext cx="3962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1A2027"/>
                </a:solidFill>
                <a:latin typeface="Arial"/>
              </a:rPr>
              <a:t>Filtro combinado real: </a:t>
            </a:r>
            <a:r>
              <a:rPr sz="1300" b="1">
                <a:solidFill>
                  <a:srgbClr val="C9791F"/>
                </a:solidFill>
                <a:latin typeface="Consolas"/>
              </a:rPr>
              <a:t>concessionária 1009 + RANGER + 2-4 anos</a:t>
            </a:r>
            <a:r>
              <a:rPr sz="1300" b="0">
                <a:solidFill>
                  <a:srgbClr val="1A2027"/>
                </a:solidFill>
                <a:latin typeface="Arial"/>
              </a:rPr>
              <a:t> → </a:t>
            </a:r>
            <a:r>
              <a:rPr sz="1300" b="1">
                <a:solidFill>
                  <a:srgbClr val="C9791F"/>
                </a:solidFill>
                <a:latin typeface="Consolas"/>
              </a:rPr>
              <a:t>144</a:t>
            </a:r>
            <a:r>
              <a:rPr sz="1300" b="0">
                <a:solidFill>
                  <a:srgbClr val="1A2027"/>
                </a:solidFill>
                <a:latin typeface="Arial"/>
              </a:rPr>
              <a:t> veículos elegíveis, de 175.554.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DEMO · PILAR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027"/>
                </a:solidFill>
                <a:latin typeface="Arial Black"/>
              </a:rPr>
              <a:t>O alerta que hoje ninguém recebe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035040" cy="1727133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anomalia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035040" cy="1727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214884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Detectado automaticamente,</a:t>
            </a: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não caçado manualmente.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4612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Três frentes: quedas abruptas por concessionária, gap crescente por modelo, picos de serviço fora do agendamento oficial.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434840"/>
            <a:ext cx="4419295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4434840"/>
            <a:ext cx="50800" cy="118872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72000"/>
            <a:ext cx="3962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1A2027"/>
                </a:solidFill>
                <a:latin typeface="Arial"/>
              </a:rPr>
              <a:t>Concessionária </a:t>
            </a:r>
            <a:r>
              <a:rPr sz="1300" b="1">
                <a:solidFill>
                  <a:srgbClr val="C9791F"/>
                </a:solidFill>
                <a:latin typeface="Consolas"/>
              </a:rPr>
              <a:t>3127</a:t>
            </a:r>
            <a:r>
              <a:rPr sz="1300" b="0">
                <a:solidFill>
                  <a:srgbClr val="1A2027"/>
                </a:solidFill>
                <a:latin typeface="Arial"/>
              </a:rPr>
              <a:t>: +11,5 pontos de serviços fora da rede oficial em 3 meses (11,7% → 23,2%).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DEMO · PILAR 2 →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027"/>
                </a:solidFill>
                <a:latin typeface="Arial Black"/>
              </a:rPr>
              <a:t>De um número a uma 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035040" cy="386719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lead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035040" cy="3867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214884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O score não fica só no relatório</a:t>
            </a: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1A2027"/>
                </a:solidFill>
                <a:latin typeface="Arial Black"/>
              </a:rPr>
              <a:t>— vira uma mensagem.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46120"/>
            <a:ext cx="4419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Score do modelo → regra de ação → mensagem personalizada, pronta pra concessionária copiar e enviar.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434840"/>
            <a:ext cx="4419295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4434840"/>
            <a:ext cx="50800" cy="118872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72000"/>
            <a:ext cx="3962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C9791F"/>
                </a:solidFill>
                <a:latin typeface="Consolas"/>
              </a:rPr>
              <a:t>KA</a:t>
            </a:r>
            <a:r>
              <a:rPr sz="1300" b="0">
                <a:solidFill>
                  <a:srgbClr val="1A2027"/>
                </a:solidFill>
                <a:latin typeface="Arial"/>
              </a:rPr>
              <a:t> · 1016 dias sem serviço, 306% acima do esperado → </a:t>
            </a:r>
            <a:r>
              <a:rPr sz="1300" b="1">
                <a:solidFill>
                  <a:srgbClr val="C9791F"/>
                </a:solidFill>
                <a:latin typeface="Consolas"/>
              </a:rPr>
              <a:t>contato_ativo</a:t>
            </a:r>
            <a:r>
              <a:rPr sz="1300" b="0">
                <a:solidFill>
                  <a:srgbClr val="1A2027"/>
                </a:solidFill>
                <a:latin typeface="Arial"/>
              </a:rPr>
              <a:t> + mensagem gerada automaticamente.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04 · A PROVA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2027"/>
                </a:solidFill>
                <a:latin typeface="Arial Black"/>
              </a:rPr>
              <a:t>Validação temporal, não sorte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572"/>
                </a:solidFill>
                <a:latin typeface="Arial"/>
              </a:rPr>
              <a:t>Treino com histórico até 30/jan/2026, teste só no período seguinte — nunca aleatório. 140.676 VINs de treino, 34.878 de teste.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1A2027"/>
                </a:solidFill>
                <a:latin typeface="Arial"/>
              </a:rPr>
              <a:t>O que é o threshold: </a:t>
            </a:r>
            <a:r>
              <a:rPr sz="1250">
                <a:solidFill>
                  <a:srgbClr val="5B6572"/>
                </a:solidFill>
                <a:latin typeface="Arial"/>
              </a:rPr>
              <a:t>cada veículo tem um gap = dias sem serviço ÷ intervalo mediano esperado do seu modelo. O threshold é onde cortamos esse gap para chamar o veículo de “em risco” — 2,0× significa “já passou o dobro do intervalo esperado”.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2027"/>
                </a:solidFill>
                <a:latin typeface="Arial Black"/>
              </a:rPr>
              <a:t>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3A0"/>
                </a:solidFill>
                <a:latin typeface="Arial"/>
              </a:rPr>
              <a:t>AUC (LogisticRegression)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2027"/>
                </a:solidFill>
                <a:latin typeface="Arial Black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3A0"/>
                </a:solidFill>
                <a:latin typeface="Arial"/>
              </a:rPr>
              <a:t>Precision@top-10%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2027"/>
                </a:solidFill>
                <a:latin typeface="Arial Black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3A0"/>
                </a:solidFill>
                <a:latin typeface="Arial"/>
              </a:rPr>
              <a:t>Precision@top-20%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977639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154680"/>
                <a:gridCol w="3154680"/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A93A0"/>
                          </a:solidFill>
                          <a:latin typeface="Consolas"/>
                        </a:defRPr>
                      </a:pPr>
                      <a:r>
                        <a:t>Threshold testado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8A93A0"/>
                          </a:solidFill>
                          <a:latin typeface="Consolas"/>
                        </a:defRPr>
                      </a:pPr>
                      <a:r>
                        <a:t>% da frota “em risco”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8A93A0"/>
                          </a:solidFill>
                          <a:latin typeface="Consolas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2027"/>
                          </a:solidFill>
                          <a:latin typeface="Arial"/>
                        </a:defRPr>
                      </a:pPr>
                      <a:r>
                        <a:t>1,2×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90,2%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0,9999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2027"/>
                          </a:solidFill>
                          <a:latin typeface="Arial"/>
                        </a:defRPr>
                      </a:pPr>
                      <a:r>
                        <a:t>1,5×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82,7%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0,9986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2027"/>
                          </a:solidFill>
                          <a:latin typeface="Arial"/>
                        </a:defRPr>
                      </a:pPr>
                      <a:r>
                        <a:t>2,0× — escolhido</a:t>
                      </a:r>
                    </a:p>
                  </a:txBody>
                  <a:tcPr>
                    <a:solidFill>
                      <a:srgbClr val="FBEE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72,3%</a:t>
                      </a:r>
                    </a:p>
                  </a:txBody>
                  <a:tcPr>
                    <a:solidFill>
                      <a:srgbClr val="FBEE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1A2027"/>
                          </a:solidFill>
                          <a:latin typeface="Consolas"/>
                        </a:defRPr>
                      </a:pPr>
                      <a:r>
                        <a:t>1,0000</a:t>
                      </a:r>
                    </a:p>
                  </a:txBody>
                  <a:tcPr>
                    <a:solidFill>
                      <a:srgbClr val="FBEEE0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66928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A93A0"/>
                </a:solidFill>
                <a:latin typeface="Arial"/>
              </a:rPr>
              <a:t>Note que o AUC não muda entre os 3 — ele não ajuda a escolher, porque o rótulo é definido diretamente por esse mesmo gap (mais no próximo slide). Escolhemos 2,0× por ser o corte mais conservador dos três, não por ter vencido em alguma métrica.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04 · A PROVA (continuação)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>
                <a:solidFill>
                  <a:srgbClr val="C9791F"/>
                </a:solidFill>
                <a:latin typeface="Arial Black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7619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027"/>
                </a:solidFill>
                <a:latin typeface="Arial"/>
              </a:rPr>
              <a:t>da frota aparece “em risco”. É um número alto — e preferimos explicar por que, não escondê-lo.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68880"/>
            <a:ext cx="7619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572"/>
                </a:solidFill>
                <a:latin typeface="Arial"/>
              </a:rPr>
              <a:t>O rótulo é um proxy, construído a partir do próprio histórico de serviço — o dataset não tem um dado confirmado de churn. Testamos 3 thresholds diferentes e o comportamento é sistemático, não um erro pontual.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931920"/>
            <a:ext cx="7619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572"/>
                </a:solidFill>
                <a:latin typeface="Arial"/>
              </a:rPr>
              <a:t>Isso torna o modelo ótimo pra ranquear quem está mais atípico — exatamente pra isso que ele alimenta a lista de leads. O próximo passo antes de produção: validar contra dado real de churn.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539496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5400" bIns="25400"/>
          <a:lstStyle/>
          <a:p>
            <a:pPr algn="ctr"/>
            <a:r>
              <a:rPr sz="1000">
                <a:solidFill>
                  <a:srgbClr val="5B6572"/>
                </a:solidFill>
                <a:latin typeface="Consolas"/>
              </a:rPr>
              <a:t>revenda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3208" y="5394960"/>
            <a:ext cx="25328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5400" bIns="25400"/>
          <a:lstStyle/>
          <a:p>
            <a:pPr algn="ctr"/>
            <a:r>
              <a:rPr sz="1000">
                <a:solidFill>
                  <a:srgbClr val="5B6572"/>
                </a:solidFill>
                <a:latin typeface="Consolas"/>
              </a:rPr>
              <a:t>pesquisa de satisfação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63256" y="5394960"/>
            <a:ext cx="19293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5400" bIns="25400"/>
          <a:lstStyle/>
          <a:p>
            <a:pPr algn="ctr"/>
            <a:r>
              <a:rPr sz="1000">
                <a:solidFill>
                  <a:srgbClr val="5B6572"/>
                </a:solidFill>
                <a:latin typeface="Consolas"/>
              </a:rPr>
              <a:t>próxima iteração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05 ·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2027"/>
                </a:solidFill>
                <a:latin typeface="Arial Black"/>
              </a:rPr>
              <a:t>Isso já roda de ponta a ponta.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2027"/>
                </a:solidFill>
                <a:latin typeface="Arial Black"/>
              </a:rPr>
              <a:t>Aqui está o caminho até virar produto.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2560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0800" cy="3383280"/>
          </a:xfrm>
          <a:prstGeom prst="rect">
            <a:avLst/>
          </a:prstGeom>
          <a:solidFill>
            <a:srgbClr val="685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857C7"/>
                </a:solidFill>
                <a:latin typeface="Consolas"/>
              </a:rPr>
              <a:t>JÁ ENTREGUE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027"/>
                </a:solidFill>
                <a:latin typeface="Arial Black"/>
              </a:rPr>
              <a:t>Fila por prioridade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A lista de leads já cruza risco com valor do cliente (histórico de serviços) — não só risco isolado — e já é limitada pela capacidade de contato da equipe, não um head() fixo.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514600"/>
            <a:ext cx="2560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856" y="2514600"/>
            <a:ext cx="50800" cy="3383280"/>
          </a:xfrm>
          <a:prstGeom prst="rect">
            <a:avLst/>
          </a:prstGeom>
          <a:solidFill>
            <a:srgbClr val="0E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7432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E7A90"/>
                </a:solidFill>
                <a:latin typeface="Consolas"/>
              </a:rPr>
              <a:t>PASSO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027"/>
                </a:solidFill>
                <a:latin typeface="Arial Black"/>
              </a:rPr>
              <a:t>Validar contra churn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79476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Hoje o rótulo é um proxy (slide anterior). Antes de produção: cruzar com dado de revenda ou pesquisa de satisfação para confirmar que “score alto” prevê evasão de verdade.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514600"/>
            <a:ext cx="2560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2514600"/>
            <a:ext cx="50800" cy="3383280"/>
          </a:xfrm>
          <a:prstGeom prst="rect">
            <a:avLst/>
          </a:prstGeom>
          <a:solidFill>
            <a:srgbClr val="2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7432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A8F5B"/>
                </a:solidFill>
                <a:latin typeface="Consolas"/>
              </a:rPr>
              <a:t>PASSO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027"/>
                </a:solidFill>
                <a:latin typeface="Arial Black"/>
              </a:rPr>
              <a:t>Contato automatizado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79476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Hoje a mensagem é gerada e copiada manualmente. Próximo passo: disparo direto por WhatsApp Business API ou e-mail transacional, sempre com opt-in do cliente.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514600"/>
            <a:ext cx="2560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408" y="2514600"/>
            <a:ext cx="50800" cy="338328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7432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9791F"/>
                </a:solidFill>
                <a:latin typeface="Consolas"/>
              </a:rPr>
              <a:t>PASSO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027"/>
                </a:solidFill>
                <a:latin typeface="Arial Black"/>
              </a:rPr>
              <a:t>Pipeline agendado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79476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Hoje o pipeline roda sob demanda. Em produção: reprocessamento agendado (ex. mensal) e monitoramento de drift do score, integrado ao CRM da concessionária.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09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06 · SUGESTÃO DE INOVAÇÃO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2027"/>
                </a:solidFill>
                <a:latin typeface="Arial Black"/>
              </a:rPr>
              <a:t>E se o histórico de manutenção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2027"/>
                </a:solidFill>
                <a:latin typeface="Arial Black"/>
              </a:rPr>
              <a:t>não pudesse ser falsificado?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50800" cy="2834640"/>
          </a:xfrm>
          <a:prstGeom prst="rect">
            <a:avLst/>
          </a:prstGeom>
          <a:solidFill>
            <a:srgbClr val="0E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90"/>
                </a:solidFill>
                <a:latin typeface="Consolas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Arial Black"/>
              </a:rPr>
              <a:t>Ledger digital do veículo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Histórico de manutenção atrelado ao VIN, imutável e verificável — a mesma ideia de um blockchain, aplicada a registros de serviço, não a criptomoeda.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560320"/>
            <a:ext cx="50800" cy="2834640"/>
          </a:xfrm>
          <a:prstGeom prst="rect">
            <a:avLst/>
          </a:prstGeom>
          <a:solidFill>
            <a:srgbClr val="2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A8F5B"/>
                </a:solidFill>
                <a:latin typeface="Consolas"/>
              </a:rPr>
              <a:t>COMO FUNCIONA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Arial Black"/>
              </a:rPr>
              <a:t>Dois tipos de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39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O dono pode lançar manutenções feitas por conta própria. Concessionárias e oficinas autorizadas geram registros certificados — assinados digitalmente, verificáveis por qualquer comprador futuro.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5603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560320"/>
            <a:ext cx="50800" cy="2834640"/>
          </a:xfrm>
          <a:prstGeom prst="rect">
            <a:avLst/>
          </a:prstGeom>
          <a:solidFill>
            <a:srgbClr val="685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857C7"/>
                </a:solidFill>
                <a:latin typeface="Consolas"/>
              </a:rPr>
              <a:t>POR QUE IMPORTA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027"/>
                </a:solidFill>
                <a:latin typeface="Arial Black"/>
              </a:rPr>
              <a:t>Resolve o problema que apontamos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49039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572"/>
                </a:solidFill>
                <a:latin typeface="Arial"/>
              </a:rPr>
              <a:t>Nosso rótulo de risco hoje é um proxy porque não existe dado confirmado de evasão (slide anterior). Um histórico certificado seria essa fonte de verdade — e ainda aumenta o valor de revenda do carro pro cliente.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572"/>
                </a:solidFill>
                <a:latin typeface="Arial"/>
              </a:rPr>
              <a:t>Não vendemos só manutenção — vendemos confiança que o próximo comprador também vai pagar por.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A93A0"/>
                </a:solidFill>
                <a:latin typeface="Consolas"/>
              </a:rPr>
              <a:t>07 · 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027"/>
                </a:solidFill>
                <a:latin typeface="Arial Black"/>
              </a:rPr>
              <a:t>Uma concessionária que liga pro cliente antes dele pensar em procurar outra oficina.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B6572"/>
                </a:solidFill>
                <a:latin typeface="Arial"/>
              </a:rPr>
              <a:t>Uma Ford que enxerga o VIN Share não como um número que cai no fim do trimestre — mas como um sinal que dá pra agir hoje.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791F"/>
                </a:solidFill>
                <a:latin typeface="Arial"/>
              </a:rPr>
              <a:t>Três pilares. Um fluxo só. Dados reais do início ao fim.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Arial"/>
              </a:rPr>
              <a:t>VIN Share Intelligence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0"/>
                </a:solidFill>
                <a:latin typeface="Consolas"/>
              </a:rPr>
              <a:t>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